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4D-4641-8EC7-5B76DE1CA1C7}"/>
              </c:ext>
            </c:extLst>
          </c:dPt>
          <c:dPt>
            <c:idx val="1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4D-4641-8EC7-5B76DE1CA1C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4D-4641-8EC7-5B76DE1CA1C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4D-4641-8EC7-5B76DE1CA1C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4D-4641-8EC7-5B76DE1CA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CCCC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TV-MA</c:v>
                </c:pt>
                <c:pt idx="1">
                  <c:v>TV-14</c:v>
                </c:pt>
                <c:pt idx="2">
                  <c:v>TV-PG</c:v>
                </c:pt>
                <c:pt idx="3">
                  <c:v>R</c:v>
                </c:pt>
                <c:pt idx="4">
                  <c:v>PG-13</c:v>
                </c:pt>
                <c:pt idx="5">
                  <c:v>PG</c:v>
                </c:pt>
                <c:pt idx="6">
                  <c:v>NR</c:v>
                </c:pt>
                <c:pt idx="7">
                  <c:v>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2027</c:v>
                </c:pt>
                <c:pt idx="1">
                  <c:v>1698</c:v>
                </c:pt>
                <c:pt idx="2">
                  <c:v>701</c:v>
                </c:pt>
                <c:pt idx="3">
                  <c:v>506</c:v>
                </c:pt>
                <c:pt idx="4">
                  <c:v>490</c:v>
                </c:pt>
                <c:pt idx="5">
                  <c:v>247</c:v>
                </c:pt>
                <c:pt idx="6">
                  <c:v>80</c:v>
                </c:pt>
                <c:pt idx="7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2B-4803-9AEA-AFC7A08776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TV-MA</c:v>
                </c:pt>
                <c:pt idx="1">
                  <c:v>TV-14</c:v>
                </c:pt>
                <c:pt idx="2">
                  <c:v>TV-PG</c:v>
                </c:pt>
                <c:pt idx="3">
                  <c:v>R</c:v>
                </c:pt>
                <c:pt idx="4">
                  <c:v>PG-13</c:v>
                </c:pt>
                <c:pt idx="5">
                  <c:v>PG</c:v>
                </c:pt>
                <c:pt idx="6">
                  <c:v>NR</c:v>
                </c:pt>
                <c:pt idx="7">
                  <c:v>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1147</c:v>
                </c:pt>
                <c:pt idx="1">
                  <c:v>742</c:v>
                </c:pt>
                <c:pt idx="2">
                  <c:v>300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60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2B-4803-9AEA-AFC7A0877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CCCC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CCCC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CCCCCC"/>
                </a:solidFill>
                <a:latin typeface="Arial"/>
              </a:rPr>
              <a:t>Top 5 Countries by Content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Content 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841-4A64-B849-F4FC9256B8E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841-4A64-B849-F4FC9256B8E6}"/>
              </c:ext>
            </c:extLst>
          </c:dPt>
          <c:dPt>
            <c:idx val="2"/>
            <c:invertIfNegative val="0"/>
            <c:bubble3D val="0"/>
            <c:spPr>
              <a:solidFill>
                <a:srgbClr val="0D4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41-4A64-B849-F4FC9256B8E6}"/>
              </c:ext>
            </c:extLst>
          </c:dPt>
          <c:dPt>
            <c:idx val="3"/>
            <c:invertIfNegative val="0"/>
            <c:bubble3D val="0"/>
            <c:spPr>
              <a:solidFill>
                <a:srgbClr val="0C3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841-4A64-B849-F4FC9256B8E6}"/>
              </c:ext>
            </c:extLst>
          </c:dPt>
          <c:dPt>
            <c:idx val="4"/>
            <c:invertIfNegative val="0"/>
            <c:bubble3D val="0"/>
            <c:spPr>
              <a:solidFill>
                <a:srgbClr val="0B22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841-4A64-B849-F4FC9256B8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United States</c:v>
                </c:pt>
                <c:pt idx="1">
                  <c:v>India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2818</c:v>
                </c:pt>
                <c:pt idx="1">
                  <c:v>972</c:v>
                </c:pt>
                <c:pt idx="2">
                  <c:v>419</c:v>
                </c:pt>
                <c:pt idx="3">
                  <c:v>245</c:v>
                </c:pt>
                <c:pt idx="4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841-4A64-B849-F4FC9256B8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AF-4A44-A1F2-D413C7D27E3F}"/>
              </c:ext>
            </c:extLst>
          </c:dPt>
          <c:dPt>
            <c:idx val="1"/>
            <c:invertIfNegative val="0"/>
            <c:bubble3D val="0"/>
            <c:spPr>
              <a:solidFill>
                <a:srgbClr val="D008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AF-4A44-A1F2-D413C7D27E3F}"/>
              </c:ext>
            </c:extLst>
          </c:dPt>
          <c:dPt>
            <c:idx val="2"/>
            <c:invertIfNegative val="0"/>
            <c:bubble3D val="0"/>
            <c:spPr>
              <a:solidFill>
                <a:srgbClr val="BB07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AF-4A44-A1F2-D413C7D27E3F}"/>
              </c:ext>
            </c:extLst>
          </c:dPt>
          <c:dPt>
            <c:idx val="3"/>
            <c:invertIfNegative val="0"/>
            <c:bubble3D val="0"/>
            <c:spPr>
              <a:solidFill>
                <a:srgbClr val="A606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AF-4A44-A1F2-D413C7D27E3F}"/>
              </c:ext>
            </c:extLst>
          </c:dPt>
          <c:dPt>
            <c:idx val="4"/>
            <c:invertIfNegative val="0"/>
            <c:bubble3D val="0"/>
            <c:spPr>
              <a:solidFill>
                <a:srgbClr val="9105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BAF-4A44-A1F2-D413C7D27E3F}"/>
              </c:ext>
            </c:extLst>
          </c:dPt>
          <c:dPt>
            <c:idx val="5"/>
            <c:invertIfNegative val="0"/>
            <c:bubble3D val="0"/>
            <c:spPr>
              <a:solidFill>
                <a:srgbClr val="7C04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BAF-4A44-A1F2-D413C7D27E3F}"/>
              </c:ext>
            </c:extLst>
          </c:dPt>
          <c:dPt>
            <c:idx val="6"/>
            <c:invertIfNegative val="0"/>
            <c:bubble3D val="0"/>
            <c:spPr>
              <a:solidFill>
                <a:srgbClr val="670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BAF-4A44-A1F2-D413C7D27E3F}"/>
              </c:ext>
            </c:extLst>
          </c:dPt>
          <c:dPt>
            <c:idx val="7"/>
            <c:invertIfNegative val="0"/>
            <c:bubble3D val="0"/>
            <c:spPr>
              <a:solidFill>
                <a:srgbClr val="5202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BAF-4A44-A1F2-D413C7D27E3F}"/>
              </c:ext>
            </c:extLst>
          </c:dPt>
          <c:dPt>
            <c:idx val="8"/>
            <c:invertIfNegative val="0"/>
            <c:bubble3D val="0"/>
            <c:spPr>
              <a:solidFill>
                <a:srgbClr val="3D010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BAF-4A44-A1F2-D413C7D27E3F}"/>
              </c:ext>
            </c:extLst>
          </c:dPt>
          <c:dPt>
            <c:idx val="9"/>
            <c:invertIfNegative val="0"/>
            <c:bubble3D val="0"/>
            <c:spPr>
              <a:solidFill>
                <a:srgbClr val="2800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BAF-4A44-A1F2-D413C7D27E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International Movies</c:v>
                </c:pt>
                <c:pt idx="1">
                  <c:v>Dramas</c:v>
                </c:pt>
                <c:pt idx="2">
                  <c:v>Comedies</c:v>
                </c:pt>
                <c:pt idx="3">
                  <c:v>International TV</c:v>
                </c:pt>
                <c:pt idx="4">
                  <c:v>Documentaries</c:v>
                </c:pt>
                <c:pt idx="5">
                  <c:v>Action &amp; Adventure</c:v>
                </c:pt>
                <c:pt idx="6">
                  <c:v>TV Dramas</c:v>
                </c:pt>
                <c:pt idx="7">
                  <c:v>Independent Movies</c:v>
                </c:pt>
                <c:pt idx="8">
                  <c:v>Children &amp; Family</c:v>
                </c:pt>
                <c:pt idx="9">
                  <c:v>Romantic Movies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2752</c:v>
                </c:pt>
                <c:pt idx="1">
                  <c:v>2427</c:v>
                </c:pt>
                <c:pt idx="2">
                  <c:v>1674</c:v>
                </c:pt>
                <c:pt idx="3">
                  <c:v>1351</c:v>
                </c:pt>
                <c:pt idx="4">
                  <c:v>869</c:v>
                </c:pt>
                <c:pt idx="5">
                  <c:v>859</c:v>
                </c:pt>
                <c:pt idx="6">
                  <c:v>762</c:v>
                </c:pt>
                <c:pt idx="7">
                  <c:v>756</c:v>
                </c:pt>
                <c:pt idx="8">
                  <c:v>641</c:v>
                </c:pt>
                <c:pt idx="9">
                  <c:v>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BAF-4A44-A1F2-D413C7D27E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269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0203"/>
          </a:solidFill>
          <a:ln w="12700">
            <a:solidFill>
              <a:srgbClr val="1A02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00" dirty="0">
                <a:solidFill>
                  <a:srgbClr val="E509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NETFLIX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Movies &amp; TV Shows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91109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using SQL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1148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business insights extracted from the Netflix catalog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 Nayak  |  Data Analyst Portfolio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365760"/>
            <a:ext cx="1645920" cy="1645920"/>
          </a:xfrm>
          <a:prstGeom prst="ellipse">
            <a:avLst/>
          </a:prstGeom>
          <a:solidFill>
            <a:srgbClr val="2A0205"/>
          </a:solidFill>
          <a:ln w="12700">
            <a:solidFill>
              <a:srgbClr val="2A020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737360"/>
            <a:ext cx="1188720" cy="1188720"/>
          </a:xfrm>
          <a:prstGeom prst="ellipse">
            <a:avLst/>
          </a:prstGeom>
          <a:solidFill>
            <a:srgbClr val="3D0308"/>
          </a:solidFill>
          <a:ln w="12700">
            <a:solidFill>
              <a:srgbClr val="3D030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560320"/>
            <a:ext cx="2011680" cy="2011680"/>
          </a:xfrm>
          <a:prstGeom prst="ellipse">
            <a:avLst/>
          </a:prstGeom>
          <a:solidFill>
            <a:srgbClr val="1E0102"/>
          </a:solidFill>
          <a:ln w="12700">
            <a:solidFill>
              <a:srgbClr val="1E010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749040"/>
            <a:ext cx="2011680" cy="502920"/>
          </a:xfrm>
          <a:prstGeom prst="rect">
            <a:avLst/>
          </a:prstGeom>
          <a:solidFill>
            <a:srgbClr val="2A0000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0914"/>
                </a:solidFill>
              </a:rPr>
              <a:t>8,800+ </a:t>
            </a:r>
            <a:r>
              <a:rPr lang="en-US" sz="1100" dirty="0">
                <a:solidFill>
                  <a:srgbClr val="CCCCCC"/>
                </a:solidFill>
              </a:rPr>
              <a:t>Titles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3749040"/>
            <a:ext cx="2011680" cy="502920"/>
          </a:xfrm>
          <a:prstGeom prst="rect">
            <a:avLst/>
          </a:prstGeom>
          <a:solidFill>
            <a:srgbClr val="2A0000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0914"/>
                </a:solidFill>
              </a:rPr>
              <a:t>15 </a:t>
            </a:r>
            <a:r>
              <a:rPr lang="en-US" sz="1100" dirty="0">
                <a:solidFill>
                  <a:srgbClr val="CCCCCC"/>
                </a:solidFill>
              </a:rPr>
              <a:t>SQL Queries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3749040"/>
            <a:ext cx="2011680" cy="502920"/>
          </a:xfrm>
          <a:prstGeom prst="rect">
            <a:avLst/>
          </a:prstGeom>
          <a:solidFill>
            <a:srgbClr val="2A0000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0914"/>
                </a:solidFill>
              </a:rPr>
              <a:t>2 </a:t>
            </a:r>
            <a:r>
              <a:rPr lang="en-US" sz="1100" dirty="0">
                <a:solidFill>
                  <a:srgbClr val="CCCCCC"/>
                </a:solidFill>
              </a:rPr>
              <a:t>Content Types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3749040"/>
            <a:ext cx="2011680" cy="502920"/>
          </a:xfrm>
          <a:prstGeom prst="rect">
            <a:avLst/>
          </a:prstGeom>
          <a:solidFill>
            <a:srgbClr val="2A0000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0914"/>
                </a:solidFill>
              </a:rPr>
              <a:t>190+ </a:t>
            </a:r>
            <a:r>
              <a:rPr lang="en-US" sz="1100" dirty="0">
                <a:solidFill>
                  <a:srgbClr val="CCCCCC"/>
                </a:solidFill>
              </a:rPr>
              <a:t>Countries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3931920"/>
          </a:xfrm>
          <a:prstGeom prst="rect">
            <a:avLst/>
          </a:prstGeom>
          <a:solidFill>
            <a:srgbClr val="1A1A1A"/>
          </a:solidFill>
          <a:ln w="1524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distribution of Movies vs TV Shows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most common content ratings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release trends by country &amp; year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content using keyword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88920" cy="3931920"/>
          </a:xfrm>
          <a:prstGeom prst="rect">
            <a:avLst/>
          </a:prstGeom>
          <a:solidFill>
            <a:srgbClr val="1A1A1A"/>
          </a:solidFill>
          <a:ln w="1524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278892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Netflix Shows Dataset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8,800+ titles in the catalog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attributes per record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global content 2008 – 2021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788920" cy="3931920"/>
          </a:xfrm>
          <a:prstGeom prst="rect">
            <a:avLst/>
          </a:prstGeom>
          <a:solidFill>
            <a:srgbClr val="1A1A1A"/>
          </a:solidFill>
          <a:ln w="1524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868680"/>
            <a:ext cx="278892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Tools &amp; Methods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all queries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CTEs &amp; aggregations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parsing with UNNEST &amp; STRING_TO_ARRAY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manipulation with TO_DATE &amp; EXTRACT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777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61288"/>
            <a:ext cx="8595360" cy="31089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612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161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161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identifier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472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4721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4721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or TV Show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83080"/>
            <a:ext cx="8595360" cy="31089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783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1783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title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0939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20939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VARCHAR(550)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20939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name(s)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04872"/>
            <a:ext cx="8595360" cy="31089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048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24048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VARCHAR(1050)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4048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members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27157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2715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VARCHAR(550)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7157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country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026664"/>
            <a:ext cx="8595360" cy="31089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26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date_added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0266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VARCHAR(55)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0266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added to Netflix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337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release_year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34640" y="3337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3375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release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648456"/>
            <a:ext cx="8595360" cy="31089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6484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36484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VARCHAR(15)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36484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 (e.g. TV-MA)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3959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834640" y="39593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VARCHAR(15)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or seasons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270248"/>
            <a:ext cx="8595360" cy="31089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270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listed_in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34640" y="42702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VARCHAR(250)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42702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" y="45811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834640" y="45811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VARCHAR(550)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45811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CONTENT DISTRIBUTION — Movies vs TV Shows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1A1A1A"/>
          </a:solidFill>
          <a:ln w="2540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E509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6,131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 of total catalog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840480" cy="1828800"/>
          </a:xfrm>
          <a:prstGeom prst="rect">
            <a:avLst/>
          </a:prstGeom>
          <a:solidFill>
            <a:srgbClr val="1A1A1A"/>
          </a:solidFill>
          <a:ln w="254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97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4FC3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2,676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2212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30.4% of total catalog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1371600" y="2834640"/>
          <a:ext cx="6400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MOST COMMON RATINGS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5778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777240"/>
            <a:ext cx="2834640" cy="1920240"/>
          </a:xfrm>
          <a:prstGeom prst="rect">
            <a:avLst/>
          </a:prstGeom>
          <a:solidFill>
            <a:srgbClr val="1A1A1A"/>
          </a:solidFill>
          <a:ln w="1905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Rating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72200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TV-MA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17220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for both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and TV Shows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834640"/>
            <a:ext cx="2834640" cy="1965960"/>
          </a:xfrm>
          <a:prstGeom prst="rect">
            <a:avLst/>
          </a:prstGeom>
          <a:solidFill>
            <a:srgbClr val="1A1A1A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Key Insight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72200" y="3337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Netflix skews toward
</a:t>
            </a:r>
            <a:r>
              <a:rPr lang="en-US" sz="1400" b="1" dirty="0">
                <a:solidFill>
                  <a:srgbClr val="FFFFFF"/>
                </a:solidFill>
              </a:rPr>
              <a:t>mature audiences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TV-MA + TV-14 account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for ~70% of all content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&amp; Q10: GEOGRAPHIC CONTENT INSIGHTS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77240"/>
            <a:ext cx="3108960" cy="3017520"/>
          </a:xfrm>
          <a:prstGeom prst="rect">
            <a:avLst/>
          </a:prstGeom>
          <a:solidFill>
            <a:srgbClr val="1A1A1A"/>
          </a:solidFill>
          <a:ln w="1905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777240"/>
            <a:ext cx="310896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868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 Spotlight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9788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Years by Avg Content Released: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1600200"/>
            <a:ext cx="2834640" cy="347472"/>
          </a:xfrm>
          <a:prstGeom prst="rect">
            <a:avLst/>
          </a:prstGeom>
          <a:solidFill>
            <a:srgbClr val="2A0205"/>
          </a:solidFill>
          <a:ln w="12700">
            <a:solidFill>
              <a:srgbClr val="1E01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600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1600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14.20%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97880" y="2002536"/>
            <a:ext cx="2834640" cy="347472"/>
          </a:xfrm>
          <a:prstGeom prst="rect">
            <a:avLst/>
          </a:prstGeom>
          <a:solidFill>
            <a:srgbClr val="1E0102"/>
          </a:solidFill>
          <a:ln w="12700">
            <a:solidFill>
              <a:srgbClr val="1E01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0025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03720" y="20025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13.37%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97880" y="2404872"/>
            <a:ext cx="2834640" cy="347472"/>
          </a:xfrm>
          <a:prstGeom prst="rect">
            <a:avLst/>
          </a:prstGeom>
          <a:solidFill>
            <a:srgbClr val="2A0205"/>
          </a:solidFill>
          <a:ln w="12700">
            <a:solidFill>
              <a:srgbClr val="1E010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404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03720" y="2404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11.11%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97880" y="2807208"/>
            <a:ext cx="2834640" cy="347472"/>
          </a:xfrm>
          <a:prstGeom prst="rect">
            <a:avLst/>
          </a:prstGeom>
          <a:solidFill>
            <a:srgbClr val="1E0102"/>
          </a:solidFill>
          <a:ln w="12700">
            <a:solidFill>
              <a:srgbClr val="1E010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8072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03720" y="2807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10.08%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97880" y="3209544"/>
            <a:ext cx="2834640" cy="347472"/>
          </a:xfrm>
          <a:prstGeom prst="rect">
            <a:avLst/>
          </a:prstGeom>
          <a:solidFill>
            <a:srgbClr val="2A0205"/>
          </a:solidFill>
          <a:ln w="12700">
            <a:solidFill>
              <a:srgbClr val="1E010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209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03720" y="3209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9.26%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74320" y="3886200"/>
            <a:ext cx="42519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88620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38862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6868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Filter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68680" y="4297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by 'Rajiv Chilaka' found via LIKE '%Rajiv Chilaka%'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09160" y="3886200"/>
            <a:ext cx="42519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388620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9160" y="38862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0352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Indian Actors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4297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actors via UNNEST on casts column for India-produced titles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QUERIES — TRENDS &amp; FILTERS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877824"/>
            <a:ext cx="41148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877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Movies by Year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all Movies released in a specific year using WHERE type='Movie' AND release_year = 2020.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8112" y="877824"/>
            <a:ext cx="41148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877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64992" y="914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Longest Movie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135331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MAX(duration) subquery to identify the single longest movie in the entire Netflix library.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804672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804672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877824"/>
            <a:ext cx="41148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1624" y="877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8504" y="914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Recent Content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18504" y="135331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content added in the last 5 years using TO_DATE and CURRENT_DATE - INTERVAL '5 years'.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9504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962656"/>
            <a:ext cx="41148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2962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TV Show Seasons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343814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TV Shows with more than 5 seasons using a text comparison on the duration field.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27832" y="2889504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2889504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8112" y="2962656"/>
            <a:ext cx="41148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2962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64992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Documentaries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64992" y="343814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all Movies tagged as Documentaries using LIKE '%Documentaries' on the listed_in column.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81344" y="2889504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1344" y="2889504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21624" y="2962656"/>
            <a:ext cx="41148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1624" y="29626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18504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Missing Directors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18504" y="343814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all content where the director field IS NULL — useful for data quality checks.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CONTENT BY GENRE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&amp; Q15: ACTOR FILTER &amp; CONTENT CATEGORIZATION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1A1A1A"/>
          </a:solidFill>
          <a:ln w="1905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Q13: Salman Khan Movies (Last 10 Yrs)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E509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Featuring Salman Khan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Netflix in the Last 10 Years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374904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4297680" cy="4114800"/>
          </a:xfrm>
          <a:prstGeom prst="rect">
            <a:avLst/>
          </a:prstGeom>
          <a:solidFill>
            <a:srgbClr val="1A1A1A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04672"/>
            <a:ext cx="4297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96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Q15: Keyword-Based Content Classification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353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tagged 'Bad' if description contains 'kill' or 'violence'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023360" cy="1188720"/>
          </a:xfrm>
          <a:prstGeom prst="rect">
            <a:avLst/>
          </a:prstGeom>
          <a:solidFill>
            <a:srgbClr val="1E2A2E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083526"/>
            <a:ext cx="1097280" cy="613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4FC3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93.3%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4360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8,216 titles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4023360" cy="1188720"/>
          </a:xfrm>
          <a:prstGeom prst="rect">
            <a:avLst/>
          </a:prstGeom>
          <a:solidFill>
            <a:srgbClr val="2A1010"/>
          </a:solidFill>
          <a:ln w="1016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37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509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6.7%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94360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Content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591 titles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4572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0710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3152" cy="12618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Content Distribution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dominate the Netflix catalog at ~70% with TV Shows making up 30%, indicating a movie-first content strategy.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51960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73152" cy="12618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961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🔞  Target Audience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is the most common rating for both types, confirming Netflix's focus on adult and mature-themed content.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51960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21992"/>
            <a:ext cx="73152" cy="12618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Geographic Reach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leads with 2,800+ titles. India ranks 2nd and shows consistent growth peaking in 2018 with 14.2% of annual releases.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251960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21992"/>
            <a:ext cx="73152" cy="12618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13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Genre Diversity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679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Movies &amp; Dramas are the top genres, highlighting Netflix's global content sourcing strategy.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251960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39312"/>
            <a:ext cx="73152" cy="12618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30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Content Safety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09651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6.7% of content was flagged for 'kill' or 'violence' keywords, reflecting diverse, family-friendly catalog options.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639312"/>
            <a:ext cx="4251960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39312"/>
            <a:ext cx="73152" cy="12618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30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Data Quality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409651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number of records lack director information, highlighting an area for metadata improvement.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600" dirty="0">
                <a:solidFill>
                  <a:srgbClr val="E509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NETFLIX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41148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Business Questions Answered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SQL: CTEs · Window Functions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Parsing · Date Manipulation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310128"/>
            <a:ext cx="41148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viewing!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548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0" y="251460"/>
            <a:ext cx="3474720" cy="924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Abhisek Nayak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914400"/>
            <a:ext cx="3474720" cy="646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0" y="1463040"/>
            <a:ext cx="3108960" cy="45719"/>
          </a:xfrm>
          <a:prstGeom prst="rect">
            <a:avLst/>
          </a:prstGeom>
          <a:solidFill>
            <a:srgbClr val="C00810"/>
          </a:solidFill>
          <a:ln w="12700">
            <a:solidFill>
              <a:srgbClr val="C008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605425"/>
            <a:ext cx="3474720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Python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926771"/>
            <a:ext cx="3474720" cy="40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SQL &amp; PostgreSQL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2240280"/>
            <a:ext cx="3474720" cy="41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Power BI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571750"/>
            <a:ext cx="3474720" cy="37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Excel &amp; Business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3282696"/>
            <a:ext cx="3108960" cy="27432"/>
          </a:xfrm>
          <a:prstGeom prst="rect">
            <a:avLst/>
          </a:prstGeom>
          <a:solidFill>
            <a:srgbClr val="C00810"/>
          </a:solidFill>
          <a:ln w="12700">
            <a:solidFill>
              <a:srgbClr val="C008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429000"/>
            <a:ext cx="347472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•  Open to Feedback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Collaboration Opportunities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779</Words>
  <Application>Microsoft Office PowerPoint</Application>
  <PresentationFormat>On-screen Show (16:9)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Movies &amp; TV Shows - SQL Data Analysis</dc:title>
  <dc:subject>PptxGenJS Presentation</dc:subject>
  <dc:creator>Abhisek Nayak</dc:creator>
  <cp:lastModifiedBy>Abhisek Nayak</cp:lastModifiedBy>
  <cp:revision>5</cp:revision>
  <dcterms:created xsi:type="dcterms:W3CDTF">2026-03-07T10:20:23Z</dcterms:created>
  <dcterms:modified xsi:type="dcterms:W3CDTF">2026-03-07T19:37:15Z</dcterms:modified>
</cp:coreProperties>
</file>